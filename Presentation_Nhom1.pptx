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Rounded Rectangle 1"/>
          <p:cNvSpPr/>
          <p:nvPr/>
        </p:nvSpPr>
        <p:spPr>
          <a:xfrm>
            <a:off x="1371600" y="1371600"/>
            <a:ext cx="9448495" cy="41148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3" name="TextBox 2"/>
          <p:cNvSpPr txBox="1"/>
          <p:nvPr/>
        </p:nvSpPr>
        <p:spPr>
          <a:xfrm>
            <a:off x="1828800" y="1828800"/>
            <a:ext cx="8534095" cy="914400"/>
          </a:xfrm>
          <a:prstGeom prst="rect">
            <a:avLst/>
          </a:prstGeom>
          <a:noFill/>
        </p:spPr>
        <p:txBody>
          <a:bodyPr wrap="none">
            <a:spAutoFit/>
          </a:bodyPr>
          <a:lstStyle/>
          <a:p/>
          <a:p>
            <a:pPr algn="ctr">
              <a:defRPr b="1" sz="3600">
                <a:solidFill>
                  <a:srgbClr val="3050A2"/>
                </a:solidFill>
                <a:latin typeface="Inter"/>
              </a:defRPr>
            </a:pPr>
            <a:r>
              <a:t>HỆ THỐNG TỰ ĐỘNG HÓA LÊN GIÁO ÁN</a:t>
            </a:r>
            <a:br/>
            <a:r>
              <a:t>&amp; ĐIỀU PHỐI HỌC CỤ</a:t>
            </a:r>
          </a:p>
        </p:txBody>
      </p:sp>
      <p:sp>
        <p:nvSpPr>
          <p:cNvPr id="4" name="TextBox 3"/>
          <p:cNvSpPr txBox="1"/>
          <p:nvPr/>
        </p:nvSpPr>
        <p:spPr>
          <a:xfrm>
            <a:off x="1828800" y="3200400"/>
            <a:ext cx="8534095" cy="1371600"/>
          </a:xfrm>
          <a:prstGeom prst="rect">
            <a:avLst/>
          </a:prstGeom>
          <a:noFill/>
        </p:spPr>
        <p:txBody>
          <a:bodyPr wrap="square">
            <a:spAutoFit/>
          </a:bodyPr>
          <a:lstStyle/>
          <a:p/>
          <a:p>
            <a:pPr algn="ctr">
              <a:defRPr sz="1600">
                <a:solidFill>
                  <a:srgbClr val="192027"/>
                </a:solidFill>
                <a:latin typeface="Inter"/>
              </a:defRPr>
            </a:pPr>
            <a:r>
              <a:t>Trích xuất tài nguyên học tập (như Twinkl) từ Cloud, tự động thiết kế giáo án tích hợp kịch bản hoạt động góc và soạn bản tin tóm tắt trên Drive+Excel gửi phụ huynh+giáo viên qua Zalo. Tự động bóc tách danh mục vật liệu thủ công, role-play và nhắc nhở chuẩn bị trước 1 tuần.</a:t>
            </a:r>
          </a:p>
        </p:txBody>
      </p:sp>
      <p:sp>
        <p:nvSpPr>
          <p:cNvPr id="5" name="TextBox 4"/>
          <p:cNvSpPr txBox="1"/>
          <p:nvPr/>
        </p:nvSpPr>
        <p:spPr>
          <a:xfrm>
            <a:off x="1828800" y="4754880"/>
            <a:ext cx="8534095" cy="457200"/>
          </a:xfrm>
          <a:prstGeom prst="rect">
            <a:avLst/>
          </a:prstGeom>
          <a:noFill/>
        </p:spPr>
        <p:txBody>
          <a:bodyPr wrap="none">
            <a:spAutoFit/>
          </a:bodyPr>
          <a:lstStyle/>
          <a:p/>
          <a:p>
            <a:pPr algn="ctr">
              <a:defRPr b="1" sz="1800">
                <a:solidFill>
                  <a:srgbClr val="29B198"/>
                </a:solidFill>
              </a:defRPr>
            </a:pPr>
            <a:r>
              <a:t>Học viên: Hồng Nhung  |  Nhóm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BỐI CẢNH &amp; QUY TRÌNH NGHIỆP VỤ</a:t>
            </a:r>
          </a:p>
        </p:txBody>
      </p:sp>
      <p:sp>
        <p:nvSpPr>
          <p:cNvPr id="3" name="Rounded Rectangle 2"/>
          <p:cNvSpPr/>
          <p:nvPr/>
        </p:nvSpPr>
        <p:spPr>
          <a:xfrm>
            <a:off x="731520" y="2743200"/>
            <a:ext cx="1828800" cy="18288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192027"/>
                </a:solidFill>
                <a:latin typeface="Inter"/>
              </a:defRPr>
            </a:pPr>
            <a:r>
              <a:t>1. Học liệu thô</a:t>
            </a:r>
            <a:br/>
            <a:r>
              <a:t>(PDF, Twinkl)</a:t>
            </a:r>
          </a:p>
        </p:txBody>
      </p:sp>
      <p:sp>
        <p:nvSpPr>
          <p:cNvPr id="4" name="Right Arrow 3"/>
          <p:cNvSpPr/>
          <p:nvPr/>
        </p:nvSpPr>
        <p:spPr>
          <a:xfrm>
            <a:off x="2651760" y="3474720"/>
            <a:ext cx="182880" cy="27432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926080" y="2743200"/>
            <a:ext cx="1828800" cy="18288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192027"/>
                </a:solidFill>
                <a:latin typeface="Inter"/>
              </a:defRPr>
            </a:pPr>
            <a:r>
              <a:t>2. Phân bổ</a:t>
            </a:r>
            <a:br/>
            <a:r>
              <a:t>Lịch trình</a:t>
            </a:r>
          </a:p>
        </p:txBody>
      </p:sp>
      <p:sp>
        <p:nvSpPr>
          <p:cNvPr id="6" name="Right Arrow 5"/>
          <p:cNvSpPr/>
          <p:nvPr/>
        </p:nvSpPr>
        <p:spPr>
          <a:xfrm>
            <a:off x="4846320" y="3474720"/>
            <a:ext cx="182880" cy="27432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20640" y="2743200"/>
            <a:ext cx="1828800" cy="18288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192027"/>
                </a:solidFill>
                <a:latin typeface="Inter"/>
              </a:defRPr>
            </a:pPr>
            <a:r>
              <a:t>3. Biên soạn</a:t>
            </a:r>
            <a:br/>
            <a:r>
              <a:t>Giáo án V3</a:t>
            </a:r>
          </a:p>
        </p:txBody>
      </p:sp>
      <p:sp>
        <p:nvSpPr>
          <p:cNvPr id="8" name="Right Arrow 7"/>
          <p:cNvSpPr/>
          <p:nvPr/>
        </p:nvSpPr>
        <p:spPr>
          <a:xfrm>
            <a:off x="7040879" y="3474720"/>
            <a:ext cx="182880" cy="27432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199" y="2743200"/>
            <a:ext cx="1828800" cy="18288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192027"/>
                </a:solidFill>
                <a:latin typeface="Inter"/>
              </a:defRPr>
            </a:pPr>
            <a:r>
              <a:t>4. Kiểm duyệt</a:t>
            </a:r>
            <a:br/>
            <a:r>
              <a:t>Chất lượng</a:t>
            </a:r>
          </a:p>
        </p:txBody>
      </p:sp>
      <p:sp>
        <p:nvSpPr>
          <p:cNvPr id="10" name="Right Arrow 9"/>
          <p:cNvSpPr/>
          <p:nvPr/>
        </p:nvSpPr>
        <p:spPr>
          <a:xfrm>
            <a:off x="9235440" y="3474720"/>
            <a:ext cx="182880" cy="27432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509760" y="2743200"/>
            <a:ext cx="1828800" cy="18288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192027"/>
                </a:solidFill>
                <a:latin typeface="Inter"/>
              </a:defRPr>
            </a:pPr>
            <a:r>
              <a:t>5. Triển khai</a:t>
            </a:r>
            <a:br/>
            <a:r>
              <a:t>&amp; Nhắc nhở</a:t>
            </a:r>
          </a:p>
        </p:txBody>
      </p:sp>
      <p:sp>
        <p:nvSpPr>
          <p:cNvPr id="12" name="Rounded Rectangle 11"/>
          <p:cNvSpPr/>
          <p:nvPr/>
        </p:nvSpPr>
        <p:spPr>
          <a:xfrm>
            <a:off x="914400" y="5029200"/>
            <a:ext cx="10362895" cy="914400"/>
          </a:xfrm>
          <a:prstGeom prst="roundRect">
            <a:avLst>
              <a:gd name="adj" fmla="val 15000"/>
            </a:avLst>
          </a:prstGeom>
          <a:solidFill>
            <a:srgbClr val="29B19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800" b="1">
                <a:solidFill>
                  <a:srgbClr val="FFFFFF"/>
                </a:solidFill>
                <a:latin typeface="Inter"/>
              </a:defRPr>
            </a:pPr>
            <a:r>
              <a:t>Quy trình Academic Quality Control: Cốt lõi duy trì tiêu chuẩn sư phạm mầm non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THÁCH THỨC &amp; MỤC TIÊU (KPIs)</a:t>
            </a:r>
          </a:p>
        </p:txBody>
      </p:sp>
      <p:sp>
        <p:nvSpPr>
          <p:cNvPr id="3" name="Rounded Rectangle 2"/>
          <p:cNvSpPr/>
          <p:nvPr/>
        </p:nvSpPr>
        <p:spPr>
          <a:xfrm>
            <a:off x="914400" y="1828800"/>
            <a:ext cx="4114800" cy="4114800"/>
          </a:xfrm>
          <a:prstGeom prst="roundRect">
            <a:avLst>
              <a:gd name="adj" fmla="val 15000"/>
            </a:avLst>
          </a:prstGeom>
          <a:solidFill>
            <a:srgbClr val="FFF5F5"/>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4" name="TextBox 3"/>
          <p:cNvSpPr txBox="1"/>
          <p:nvPr/>
        </p:nvSpPr>
        <p:spPr>
          <a:xfrm>
            <a:off x="1097280" y="2011680"/>
            <a:ext cx="3657600" cy="3657600"/>
          </a:xfrm>
          <a:prstGeom prst="rect">
            <a:avLst/>
          </a:prstGeom>
          <a:noFill/>
        </p:spPr>
        <p:txBody>
          <a:bodyPr wrap="square">
            <a:spAutoFit/>
          </a:bodyPr>
          <a:lstStyle/>
          <a:p>
            <a:pPr>
              <a:defRPr sz="2200" b="1">
                <a:solidFill>
                  <a:srgbClr val="B43232"/>
                </a:solidFill>
              </a:defRPr>
            </a:pPr>
            <a:r>
              <a:t>THÁCH THỨC HIỆN TẠI</a:t>
            </a:r>
          </a:p>
          <a:p>
            <a:pPr>
              <a:defRPr sz="1800">
                <a:solidFill>
                  <a:srgbClr val="B43232"/>
                </a:solidFill>
              </a:defRPr>
            </a:pPr>
          </a:p>
          <a:p>
            <a:pPr>
              <a:defRPr sz="1800">
                <a:solidFill>
                  <a:srgbClr val="B43232"/>
                </a:solidFill>
              </a:defRPr>
            </a:pPr>
            <a:r>
              <a:t>• Mất 4-5 tiếng/tuần/lớp để soạn bài.</a:t>
            </a:r>
          </a:p>
          <a:p>
            <a:pPr>
              <a:defRPr sz="1800">
                <a:solidFill>
                  <a:srgbClr val="B43232"/>
                </a:solidFill>
              </a:defRPr>
            </a:pPr>
            <a:r>
              <a:t>• Dễ nhầm lẫn độ khó giữa trẻ 3-4 và 5-6 tuổi.</a:t>
            </a:r>
          </a:p>
          <a:p>
            <a:pPr>
              <a:defRPr sz="1800">
                <a:solidFill>
                  <a:srgbClr val="B43232"/>
                </a:solidFill>
              </a:defRPr>
            </a:pPr>
            <a:r>
              <a:t>• Quên ghi chú an toàn gây rủi ro cao.</a:t>
            </a:r>
          </a:p>
        </p:txBody>
      </p:sp>
      <p:sp>
        <p:nvSpPr>
          <p:cNvPr id="5" name="Rounded Rectangle 4"/>
          <p:cNvSpPr/>
          <p:nvPr/>
        </p:nvSpPr>
        <p:spPr>
          <a:xfrm>
            <a:off x="5943600" y="1828800"/>
            <a:ext cx="5486400" cy="41148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6" name="TextBox 5"/>
          <p:cNvSpPr txBox="1"/>
          <p:nvPr/>
        </p:nvSpPr>
        <p:spPr>
          <a:xfrm>
            <a:off x="6217920" y="2011680"/>
            <a:ext cx="5029200" cy="3657600"/>
          </a:xfrm>
          <a:prstGeom prst="rect">
            <a:avLst/>
          </a:prstGeom>
          <a:noFill/>
        </p:spPr>
        <p:txBody>
          <a:bodyPr wrap="square">
            <a:spAutoFit/>
          </a:bodyPr>
          <a:lstStyle/>
          <a:p>
            <a:pPr>
              <a:defRPr sz="2200" b="1">
                <a:solidFill>
                  <a:srgbClr val="3050A2"/>
                </a:solidFill>
              </a:defRPr>
            </a:pPr>
            <a:r>
              <a:t>MỤC TIÊU SCOPE (KPIs)</a:t>
            </a:r>
          </a:p>
          <a:p>
            <a:pPr>
              <a:defRPr sz="1800">
                <a:solidFill>
                  <a:srgbClr val="3050A2"/>
                </a:solidFill>
              </a:defRPr>
            </a:pPr>
          </a:p>
          <a:p>
            <a:pPr>
              <a:defRPr sz="1800">
                <a:solidFill>
                  <a:srgbClr val="3050A2"/>
                </a:solidFill>
              </a:defRPr>
            </a:pPr>
            <a:r>
              <a:t>• TỐC ĐỘ: Giảm thời gian từ 4-5 tiếng xuống &lt; 3 PHÚT.</a:t>
            </a:r>
          </a:p>
          <a:p>
            <a:pPr>
              <a:defRPr sz="1800">
                <a:solidFill>
                  <a:srgbClr val="3050A2"/>
                </a:solidFill>
              </a:defRPr>
            </a:pPr>
            <a:r>
              <a:t>• CHẤT LƯỢNG: Chuẩn hóa 100% Montessori, đủ Part 1-4.</a:t>
            </a:r>
          </a:p>
          <a:p>
            <a:pPr>
              <a:defRPr sz="1800">
                <a:solidFill>
                  <a:srgbClr val="3050A2"/>
                </a:solidFill>
              </a:defRPr>
            </a:pPr>
            <a:r>
              <a:t>• NHẬN DIỆN: Đúng tone màu và font chữ Inter.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PHÂN CẤP HỆ THỐNG: ĐIỀU PHỐI – QUẢN LÝ – THỰC THI</a:t>
            </a:r>
          </a:p>
        </p:txBody>
      </p:sp>
      <p:sp>
        <p:nvSpPr>
          <p:cNvPr id="3" name="Rounded Rectangle 2"/>
          <p:cNvSpPr/>
          <p:nvPr/>
        </p:nvSpPr>
        <p:spPr>
          <a:xfrm>
            <a:off x="2743200" y="1828800"/>
            <a:ext cx="6705295" cy="1097280"/>
          </a:xfrm>
          <a:prstGeom prst="roundRect">
            <a:avLst>
              <a:gd name="adj" fmla="val 15000"/>
            </a:avLst>
          </a:prstGeom>
          <a:solidFill>
            <a:srgbClr val="3050A2"/>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FFFFF"/>
                </a:solidFill>
                <a:latin typeface="Inter"/>
              </a:defRPr>
            </a:pPr>
            <a:r>
              <a:t>1. ĐIỀU PHỐI (Master Pipeline)</a:t>
            </a:r>
            <a:br/>
            <a:r>
              <a:t>Tổng chỉ huy, tiếp nhận lệnh và điều hướng luồng AI</a:t>
            </a:r>
          </a:p>
        </p:txBody>
      </p:sp>
      <p:sp>
        <p:nvSpPr>
          <p:cNvPr id="4" name="Right Arrow 3"/>
          <p:cNvSpPr/>
          <p:nvPr/>
        </p:nvSpPr>
        <p:spPr>
          <a:xfrm rot="5400000">
            <a:off x="5943600" y="3017520"/>
            <a:ext cx="274320" cy="36576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828800" y="3474720"/>
            <a:ext cx="8534095" cy="1097280"/>
          </a:xfrm>
          <a:prstGeom prst="roundRect">
            <a:avLst>
              <a:gd name="adj" fmla="val 15000"/>
            </a:avLst>
          </a:prstGeom>
          <a:solidFill>
            <a:srgbClr val="29B19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FFFFF"/>
                </a:solidFill>
                <a:latin typeface="Inter"/>
              </a:defRPr>
            </a:pPr>
            <a:r>
              <a:t>2. QUẢN LÝ (Planners &amp; Classifiers)</a:t>
            </a:r>
            <a:br/>
            <a:r>
              <a:t>Phân tích độ tuổi, phân loại môn học &amp; xếp lịch 2 tuần thông minh</a:t>
            </a:r>
          </a:p>
        </p:txBody>
      </p:sp>
      <p:sp>
        <p:nvSpPr>
          <p:cNvPr id="6" name="Right Arrow 5"/>
          <p:cNvSpPr/>
          <p:nvPr/>
        </p:nvSpPr>
        <p:spPr>
          <a:xfrm rot="5400000">
            <a:off x="5943600" y="4663440"/>
            <a:ext cx="274320" cy="36576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5120640"/>
            <a:ext cx="10362895" cy="1097280"/>
          </a:xfrm>
          <a:prstGeom prst="roundRect">
            <a:avLst>
              <a:gd name="adj" fmla="val 15000"/>
            </a:avLst>
          </a:prstGeom>
          <a:solidFill>
            <a:srgbClr val="DCEB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192027"/>
                </a:solidFill>
                <a:latin typeface="Inter"/>
              </a:defRPr>
            </a:pPr>
            <a:r>
              <a:t>3. THỰC THI (Writers &amp; Sync Tools)</a:t>
            </a:r>
            <a:br/>
            <a:r>
              <a:t>Đọc PDF thô, sinh giáo án LLM, Render DOCX chuẩn màu &amp; Sync Google Drive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KIẾN TRÚC 7 THÀNH TỐ AGENTIC WORKSPACE</a:t>
            </a:r>
          </a:p>
        </p:txBody>
      </p:sp>
      <p:sp>
        <p:nvSpPr>
          <p:cNvPr id="3" name="Rounded Rectangle 2"/>
          <p:cNvSpPr/>
          <p:nvPr/>
        </p:nvSpPr>
        <p:spPr>
          <a:xfrm>
            <a:off x="5180990" y="2743200"/>
            <a:ext cx="1828800" cy="1828800"/>
          </a:xfrm>
          <a:prstGeom prst="roundRect">
            <a:avLst>
              <a:gd name="adj" fmla="val 15000"/>
            </a:avLst>
          </a:prstGeom>
          <a:solidFill>
            <a:srgbClr val="3050A2"/>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2000" b="1">
                <a:solidFill>
                  <a:srgbClr val="FFFFFF"/>
                </a:solidFill>
                <a:latin typeface="Inter"/>
              </a:defRPr>
            </a:pPr>
            <a:r>
              <a:t>AGENTIC</a:t>
            </a:r>
            <a:br/>
            <a:r>
              <a:t>WORKSPACE</a:t>
            </a:r>
          </a:p>
        </p:txBody>
      </p:sp>
      <p:sp>
        <p:nvSpPr>
          <p:cNvPr id="4" name="Rounded Rectangle 3"/>
          <p:cNvSpPr/>
          <p:nvPr/>
        </p:nvSpPr>
        <p:spPr>
          <a:xfrm>
            <a:off x="1828800" y="1371600"/>
            <a:ext cx="1828800" cy="9144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192027"/>
                </a:solidFill>
                <a:latin typeface="Inter"/>
              </a:defRPr>
            </a:pPr>
            <a:r>
              <a:t>1. Agent Core (MICRO)</a:t>
            </a:r>
          </a:p>
        </p:txBody>
      </p:sp>
      <p:sp>
        <p:nvSpPr>
          <p:cNvPr id="5" name="Rounded Rectangle 4"/>
          <p:cNvSpPr/>
          <p:nvPr/>
        </p:nvSpPr>
        <p:spPr>
          <a:xfrm>
            <a:off x="8503920" y="1371600"/>
            <a:ext cx="1828800" cy="9144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192027"/>
                </a:solidFill>
                <a:latin typeface="Inter"/>
              </a:defRPr>
            </a:pPr>
            <a:r>
              <a:t>2. Workflow (OIPO)</a:t>
            </a:r>
          </a:p>
        </p:txBody>
      </p:sp>
      <p:sp>
        <p:nvSpPr>
          <p:cNvPr id="6" name="Rounded Rectangle 5"/>
          <p:cNvSpPr/>
          <p:nvPr/>
        </p:nvSpPr>
        <p:spPr>
          <a:xfrm>
            <a:off x="914400" y="2926080"/>
            <a:ext cx="1828800" cy="9144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192027"/>
                </a:solidFill>
                <a:latin typeface="Inter"/>
              </a:defRPr>
            </a:pPr>
            <a:r>
              <a:t>3. Rules (CLEAR)</a:t>
            </a:r>
          </a:p>
        </p:txBody>
      </p:sp>
      <p:sp>
        <p:nvSpPr>
          <p:cNvPr id="7" name="Rounded Rectangle 6"/>
          <p:cNvSpPr/>
          <p:nvPr/>
        </p:nvSpPr>
        <p:spPr>
          <a:xfrm>
            <a:off x="9418320" y="2926080"/>
            <a:ext cx="1828800" cy="9144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192027"/>
                </a:solidFill>
                <a:latin typeface="Inter"/>
              </a:defRPr>
            </a:pPr>
            <a:r>
              <a:t>4. Knowledge Base (RAG)</a:t>
            </a:r>
          </a:p>
        </p:txBody>
      </p:sp>
      <p:sp>
        <p:nvSpPr>
          <p:cNvPr id="8" name="Rounded Rectangle 7"/>
          <p:cNvSpPr/>
          <p:nvPr/>
        </p:nvSpPr>
        <p:spPr>
          <a:xfrm>
            <a:off x="1828800" y="5029200"/>
            <a:ext cx="1828800" cy="9144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192027"/>
                </a:solidFill>
                <a:latin typeface="Inter"/>
              </a:defRPr>
            </a:pPr>
            <a:r>
              <a:t>5. Google Sync</a:t>
            </a:r>
          </a:p>
        </p:txBody>
      </p:sp>
      <p:sp>
        <p:nvSpPr>
          <p:cNvPr id="9" name="Rounded Rectangle 8"/>
          <p:cNvSpPr/>
          <p:nvPr/>
        </p:nvSpPr>
        <p:spPr>
          <a:xfrm>
            <a:off x="8503920" y="5029200"/>
            <a:ext cx="1828800" cy="9144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192027"/>
                </a:solidFill>
                <a:latin typeface="Inter"/>
              </a:defRPr>
            </a:pPr>
            <a:r>
              <a:t>6. Human Checkpoint</a:t>
            </a:r>
          </a:p>
        </p:txBody>
      </p:sp>
      <p:sp>
        <p:nvSpPr>
          <p:cNvPr id="10" name="Rounded Rectangle 9"/>
          <p:cNvSpPr/>
          <p:nvPr/>
        </p:nvSpPr>
        <p:spPr>
          <a:xfrm>
            <a:off x="5180990" y="5486400"/>
            <a:ext cx="1828800" cy="9144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200" b="1">
                <a:solidFill>
                  <a:srgbClr val="192027"/>
                </a:solidFill>
                <a:latin typeface="Inter"/>
              </a:defRPr>
            </a:pPr>
            <a:r>
              <a:t>7. Handoff (JSON/MD)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QUY TRÌNH VẬN HÀNH &amp; LUỒNG DỮ LIỆU</a:t>
            </a:r>
          </a:p>
        </p:txBody>
      </p:sp>
      <p:sp>
        <p:nvSpPr>
          <p:cNvPr id="3" name="Rounded Rectangle 2"/>
          <p:cNvSpPr/>
          <p:nvPr/>
        </p:nvSpPr>
        <p:spPr>
          <a:xfrm>
            <a:off x="914400" y="2286000"/>
            <a:ext cx="10362895" cy="36576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4" name="Rounded Rectangle 3"/>
          <p:cNvSpPr/>
          <p:nvPr/>
        </p:nvSpPr>
        <p:spPr>
          <a:xfrm>
            <a:off x="1188720" y="3200400"/>
            <a:ext cx="1737360" cy="1371600"/>
          </a:xfrm>
          <a:prstGeom prst="roundRect">
            <a:avLst>
              <a:gd name="adj" fmla="val 15000"/>
            </a:avLst>
          </a:prstGeom>
          <a:solidFill>
            <a:srgbClr val="29B19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FFFFFF"/>
                </a:solidFill>
                <a:latin typeface="Inter"/>
              </a:defRPr>
            </a:pPr>
            <a:r>
              <a:t>Data Converter</a:t>
            </a:r>
            <a:br/>
            <a:r>
              <a:t>(Trích xuất MD)</a:t>
            </a:r>
          </a:p>
        </p:txBody>
      </p:sp>
      <p:sp>
        <p:nvSpPr>
          <p:cNvPr id="5" name="Right Arrow 4"/>
          <p:cNvSpPr/>
          <p:nvPr/>
        </p:nvSpPr>
        <p:spPr>
          <a:xfrm>
            <a:off x="3017520" y="3749039"/>
            <a:ext cx="91440" cy="18288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0" y="3200400"/>
            <a:ext cx="1737360" cy="1371600"/>
          </a:xfrm>
          <a:prstGeom prst="roundRect">
            <a:avLst>
              <a:gd name="adj" fmla="val 15000"/>
            </a:avLst>
          </a:prstGeom>
          <a:solidFill>
            <a:srgbClr val="3050A2"/>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FFFFFF"/>
                </a:solidFill>
                <a:latin typeface="Inter"/>
              </a:defRPr>
            </a:pPr>
            <a:r>
              <a:t>Curriculum Planner</a:t>
            </a:r>
            <a:br/>
            <a:r>
              <a:t>(Lập lịch 10 tiết)</a:t>
            </a:r>
          </a:p>
        </p:txBody>
      </p:sp>
      <p:sp>
        <p:nvSpPr>
          <p:cNvPr id="7" name="Right Arrow 6"/>
          <p:cNvSpPr/>
          <p:nvPr/>
        </p:nvSpPr>
        <p:spPr>
          <a:xfrm>
            <a:off x="5029200" y="3749039"/>
            <a:ext cx="91440" cy="18288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0" y="3200400"/>
            <a:ext cx="1737360" cy="1371600"/>
          </a:xfrm>
          <a:prstGeom prst="roundRect">
            <a:avLst>
              <a:gd name="adj" fmla="val 15000"/>
            </a:avLst>
          </a:prstGeom>
          <a:solidFill>
            <a:srgbClr val="29B19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FFFFFF"/>
                </a:solidFill>
                <a:latin typeface="Inter"/>
              </a:defRPr>
            </a:pPr>
            <a:r>
              <a:t>Lesson Plan Writer</a:t>
            </a:r>
            <a:br/>
            <a:r>
              <a:t>(Viết bài 4 Parts)</a:t>
            </a:r>
          </a:p>
        </p:txBody>
      </p:sp>
      <p:sp>
        <p:nvSpPr>
          <p:cNvPr id="9" name="Right Arrow 8"/>
          <p:cNvSpPr/>
          <p:nvPr/>
        </p:nvSpPr>
        <p:spPr>
          <a:xfrm>
            <a:off x="7040880" y="3749039"/>
            <a:ext cx="91440" cy="18288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23760" y="3200400"/>
            <a:ext cx="1737360" cy="1371600"/>
          </a:xfrm>
          <a:prstGeom prst="roundRect">
            <a:avLst>
              <a:gd name="adj" fmla="val 15000"/>
            </a:avLst>
          </a:prstGeom>
          <a:solidFill>
            <a:srgbClr val="3050A2"/>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FFFFFF"/>
                </a:solidFill>
                <a:latin typeface="Inter"/>
              </a:defRPr>
            </a:pPr>
            <a:r>
              <a:t>DOCX Renderer</a:t>
            </a:r>
            <a:br/>
            <a:r>
              <a:t>(Định dạng File)</a:t>
            </a:r>
          </a:p>
        </p:txBody>
      </p:sp>
      <p:sp>
        <p:nvSpPr>
          <p:cNvPr id="11" name="Right Arrow 10"/>
          <p:cNvSpPr/>
          <p:nvPr/>
        </p:nvSpPr>
        <p:spPr>
          <a:xfrm>
            <a:off x="9052560" y="3749039"/>
            <a:ext cx="91440" cy="182880"/>
          </a:xfrm>
          <a:prstGeom prst="rightArrow">
            <a:avLst/>
          </a:prstGeom>
          <a:solidFill>
            <a:srgbClr val="29B1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35440" y="3200400"/>
            <a:ext cx="1737360" cy="1371600"/>
          </a:xfrm>
          <a:prstGeom prst="roundRect">
            <a:avLst>
              <a:gd name="adj" fmla="val 15000"/>
            </a:avLst>
          </a:prstGeom>
          <a:solidFill>
            <a:srgbClr val="29B19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FFFFFF"/>
                </a:solidFill>
                <a:latin typeface="Inter"/>
              </a:defRPr>
            </a:pPr>
            <a:r>
              <a:t>Workspace Sync</a:t>
            </a:r>
            <a:br/>
            <a:r>
              <a:t>(Up Drive/Sheet)</a:t>
            </a:r>
          </a:p>
        </p:txBody>
      </p:sp>
      <p:sp>
        <p:nvSpPr>
          <p:cNvPr id="13" name="TextBox 12"/>
          <p:cNvSpPr txBox="1"/>
          <p:nvPr/>
        </p:nvSpPr>
        <p:spPr>
          <a:xfrm>
            <a:off x="914400" y="1371600"/>
            <a:ext cx="10058400" cy="914400"/>
          </a:xfrm>
          <a:prstGeom prst="rect">
            <a:avLst/>
          </a:prstGeom>
          <a:noFill/>
        </p:spPr>
        <p:txBody>
          <a:bodyPr wrap="none">
            <a:spAutoFit/>
          </a:bodyPr>
          <a:lstStyle/>
          <a:p>
            <a:pPr algn="ctr">
              <a:defRPr sz="1800">
                <a:solidFill>
                  <a:srgbClr val="192027"/>
                </a:solidFill>
              </a:defRPr>
            </a:pPr>
            <a:r>
              <a:t>Lệnh kích hoạt tự động hóa: Đọc. [Độ tuổi]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ĐIỂM CHẠM CON NGƯỜI (HUMAN CHECKPOINT)</a:t>
            </a:r>
          </a:p>
        </p:txBody>
      </p:sp>
      <p:sp>
        <p:nvSpPr>
          <p:cNvPr id="3" name="Rounded Rectangle 2"/>
          <p:cNvSpPr/>
          <p:nvPr/>
        </p:nvSpPr>
        <p:spPr>
          <a:xfrm>
            <a:off x="1371600" y="2286000"/>
            <a:ext cx="3657600" cy="27432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0">
                <a:solidFill>
                  <a:srgbClr val="192027"/>
                </a:solidFill>
                <a:latin typeface="Inter"/>
              </a:defRPr>
            </a:pPr>
            <a:r>
              <a:t>AI Tự Động Hóa</a:t>
            </a:r>
            <a:br/>
            <a:br/>
            <a:r>
              <a:t>- Soạn giáo án xong</a:t>
            </a:r>
            <a:br/>
            <a:r>
              <a:t>- Chờ duyệt để upload</a:t>
            </a:r>
          </a:p>
        </p:txBody>
      </p:sp>
      <p:sp>
        <p:nvSpPr>
          <p:cNvPr id="4" name="Rounded Rectangle 3"/>
          <p:cNvSpPr/>
          <p:nvPr/>
        </p:nvSpPr>
        <p:spPr>
          <a:xfrm>
            <a:off x="7132320" y="2286000"/>
            <a:ext cx="3657600" cy="27432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0">
                <a:solidFill>
                  <a:srgbClr val="192027"/>
                </a:solidFill>
                <a:latin typeface="Inter"/>
              </a:defRPr>
            </a:pPr>
            <a:r>
              <a:t>Google Cloud</a:t>
            </a:r>
            <a:br/>
            <a:br/>
            <a:r>
              <a:t>- Lưu Drive</a:t>
            </a:r>
            <a:br/>
            <a:r>
              <a:t>- Báo cáo Sheet</a:t>
            </a:r>
          </a:p>
        </p:txBody>
      </p:sp>
      <p:sp>
        <p:nvSpPr>
          <p:cNvPr id="5" name="Rounded Rectangle 4"/>
          <p:cNvSpPr/>
          <p:nvPr/>
        </p:nvSpPr>
        <p:spPr>
          <a:xfrm>
            <a:off x="5303520" y="2560320"/>
            <a:ext cx="1554480" cy="2194560"/>
          </a:xfrm>
          <a:prstGeom prst="roundRect">
            <a:avLst>
              <a:gd name="adj" fmla="val 15000"/>
            </a:avLst>
          </a:prstGeom>
          <a:solidFill>
            <a:srgbClr val="29B19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FFFFF"/>
                </a:solidFill>
                <a:latin typeface="Inter"/>
              </a:defRPr>
            </a:pPr>
            <a:r>
              <a:t>Quality Gate</a:t>
            </a:r>
            <a:br/>
            <a:r>
              <a:t>(Manager)</a:t>
            </a:r>
          </a:p>
        </p:txBody>
      </p:sp>
      <p:sp>
        <p:nvSpPr>
          <p:cNvPr id="6" name="Rounded Rectangle 5"/>
          <p:cNvSpPr/>
          <p:nvPr/>
        </p:nvSpPr>
        <p:spPr>
          <a:xfrm>
            <a:off x="2743200" y="5486400"/>
            <a:ext cx="6705295" cy="914400"/>
          </a:xfrm>
          <a:prstGeom prst="roundRect">
            <a:avLst>
              <a:gd name="adj" fmla="val 15000"/>
            </a:avLst>
          </a:prstGeom>
          <a:solidFill>
            <a:srgbClr val="DCF0DC"/>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0">
                <a:solidFill>
                  <a:srgbClr val="192027"/>
                </a:solidFill>
                <a:latin typeface="Inter"/>
              </a:defRPr>
            </a:pPr>
            <a:r>
              <a:t>Gõ 'Duyệt.' -&gt; Chuyển tiếp || Hoặc Góp ý -&gt; Lưu feedback.txt cho AI sửa lại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HỆ THỐNG ĐÁNH GIÁ TỰ ĐỘNG (AI GRADING)</a:t>
            </a:r>
          </a:p>
        </p:txBody>
      </p:sp>
      <p:sp>
        <p:nvSpPr>
          <p:cNvPr id="3" name="TextBox 2"/>
          <p:cNvSpPr txBox="1"/>
          <p:nvPr/>
        </p:nvSpPr>
        <p:spPr>
          <a:xfrm>
            <a:off x="914400" y="1645920"/>
            <a:ext cx="10362895" cy="731520"/>
          </a:xfrm>
          <a:prstGeom prst="rect">
            <a:avLst/>
          </a:prstGeom>
          <a:noFill/>
        </p:spPr>
        <p:txBody>
          <a:bodyPr wrap="none">
            <a:spAutoFit/>
          </a:bodyPr>
          <a:lstStyle/>
          <a:p>
            <a:pPr algn="ctr">
              <a:defRPr sz="2000" b="1"/>
            </a:pPr>
            <a:r>
              <a:t>Barem chấm điểm 100 điểm với 7 Tiêu chí Khắt khe</a:t>
            </a:r>
          </a:p>
        </p:txBody>
      </p:sp>
      <p:sp>
        <p:nvSpPr>
          <p:cNvPr id="4" name="Rounded Rectangle 3"/>
          <p:cNvSpPr/>
          <p:nvPr/>
        </p:nvSpPr>
        <p:spPr>
          <a:xfrm>
            <a:off x="1371600" y="2560320"/>
            <a:ext cx="2743200" cy="27432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0">
                <a:solidFill>
                  <a:srgbClr val="192027"/>
                </a:solidFill>
                <a:latin typeface="Inter"/>
              </a:defRPr>
            </a:pPr>
            <a:r>
              <a:t>1. Xử lý dữ liệu (15)</a:t>
            </a:r>
            <a:br/>
            <a:r>
              <a:t>2. Chuẩn Montessori (20)</a:t>
            </a:r>
            <a:br/>
            <a:r>
              <a:t>3. Theo Độ Tuổi (15)</a:t>
            </a:r>
            <a:br/>
            <a:r>
              <a:t>4. Scaffolding (15)</a:t>
            </a:r>
          </a:p>
        </p:txBody>
      </p:sp>
      <p:sp>
        <p:nvSpPr>
          <p:cNvPr id="5" name="Rounded Rectangle 4"/>
          <p:cNvSpPr/>
          <p:nvPr/>
        </p:nvSpPr>
        <p:spPr>
          <a:xfrm>
            <a:off x="4572000" y="2560320"/>
            <a:ext cx="2743200" cy="2743200"/>
          </a:xfrm>
          <a:prstGeom prst="roundRect">
            <a:avLst>
              <a:gd name="adj" fmla="val 15000"/>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0">
                <a:solidFill>
                  <a:srgbClr val="192027"/>
                </a:solidFill>
                <a:latin typeface="Inter"/>
              </a:defRPr>
            </a:pPr>
            <a:r>
              <a:t>5. Độ an toàn (10)</a:t>
            </a:r>
            <a:br/>
            <a:r>
              <a:t>6. Hứng thú TPR (15)</a:t>
            </a:r>
            <a:br/>
            <a:r>
              <a:t>7. Định dạng (10)</a:t>
            </a:r>
          </a:p>
        </p:txBody>
      </p:sp>
      <p:sp>
        <p:nvSpPr>
          <p:cNvPr id="6" name="Rounded Rectangle 5"/>
          <p:cNvSpPr/>
          <p:nvPr/>
        </p:nvSpPr>
        <p:spPr>
          <a:xfrm>
            <a:off x="7772400" y="2560320"/>
            <a:ext cx="3200400" cy="2743200"/>
          </a:xfrm>
          <a:prstGeom prst="roundRect">
            <a:avLst>
              <a:gd name="adj" fmla="val 15000"/>
            </a:avLst>
          </a:prstGeom>
          <a:solidFill>
            <a:srgbClr val="FFE6E6"/>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C80000"/>
                </a:solidFill>
                <a:latin typeface="Inter"/>
              </a:defRPr>
            </a:pPr>
            <a:r>
              <a:t>⚠ RED FLAGS &amp; ALERT</a:t>
            </a:r>
            <a:br/>
            <a:br/>
            <a:r>
              <a:t>Nếu &lt;50đ hoặc thiếu an toàn: Gửi Mail Cảnh báo Tự động ngay lập tức.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ACADEMIC MANAGER DASHBOARD</a:t>
            </a:r>
          </a:p>
        </p:txBody>
      </p:sp>
      <p:sp>
        <p:nvSpPr>
          <p:cNvPr id="3" name="Rounded Rectangle 2"/>
          <p:cNvSpPr/>
          <p:nvPr/>
        </p:nvSpPr>
        <p:spPr>
          <a:xfrm>
            <a:off x="1371600" y="1828800"/>
            <a:ext cx="9448495" cy="4114800"/>
          </a:xfrm>
          <a:prstGeom prst="roundRect">
            <a:avLst>
              <a:gd name="adj" fmla="val 15000"/>
            </a:avLst>
          </a:prstGeom>
          <a:solidFill>
            <a:srgbClr val="F0F5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4" name="TextBox 3"/>
          <p:cNvSpPr txBox="1"/>
          <p:nvPr/>
        </p:nvSpPr>
        <p:spPr>
          <a:xfrm>
            <a:off x="1828800" y="2286000"/>
            <a:ext cx="8534095" cy="3200400"/>
          </a:xfrm>
          <a:prstGeom prst="rect">
            <a:avLst/>
          </a:prstGeom>
          <a:noFill/>
        </p:spPr>
        <p:txBody>
          <a:bodyPr wrap="square">
            <a:spAutoFit/>
          </a:bodyPr>
          <a:lstStyle/>
          <a:p>
            <a:pPr>
              <a:spcAft>
                <a:spcPts val="1000"/>
              </a:spcAft>
              <a:defRPr sz="2400" b="1">
                <a:solidFill>
                  <a:srgbClr val="3050A2"/>
                </a:solidFill>
              </a:defRPr>
            </a:pPr>
            <a:r>
              <a:t>Giao diện Glassmorphism trên Streamlit (Port 9009)</a:t>
            </a:r>
          </a:p>
          <a:p>
            <a:pPr>
              <a:spcAft>
                <a:spcPts val="1000"/>
              </a:spcAft>
              <a:defRPr sz="2000">
                <a:solidFill>
                  <a:srgbClr val="3050A2"/>
                </a:solidFill>
              </a:defRPr>
            </a:pPr>
          </a:p>
          <a:p>
            <a:pPr>
              <a:spcAft>
                <a:spcPts val="1000"/>
              </a:spcAft>
              <a:defRPr sz="2000">
                <a:solidFill>
                  <a:srgbClr val="3050A2"/>
                </a:solidFill>
              </a:defRPr>
            </a:pPr>
            <a:r>
              <a:t>• Biểu diễn trực quan điểm số dưới dạng Progress bar.</a:t>
            </a:r>
          </a:p>
          <a:p>
            <a:pPr>
              <a:spcAft>
                <a:spcPts val="1000"/>
              </a:spcAft>
              <a:defRPr sz="2000">
                <a:solidFill>
                  <a:srgbClr val="3050A2"/>
                </a:solidFill>
              </a:defRPr>
            </a:pPr>
            <a:r>
              <a:t>• Hiển thị chi tiết lỗi (Red flags) &amp; Đề xuất sửa đổi tự động.</a:t>
            </a:r>
          </a:p>
          <a:p>
            <a:pPr>
              <a:spcAft>
                <a:spcPts val="1000"/>
              </a:spcAft>
              <a:defRPr sz="2000">
                <a:solidFill>
                  <a:srgbClr val="3050A2"/>
                </a:solidFill>
              </a:defRPr>
            </a:pPr>
            <a:r>
              <a:t>• Quản lý tập trung toàn bộ tiến độ làm giáo án 2 tuần.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2ED"/>
        </a:solidFill>
        <a:effectLst/>
      </p:bgPr>
    </p:bg>
    <p:spTree>
      <p:nvGrpSpPr>
        <p:cNvPr id="1" name=""/>
        <p:cNvGrpSpPr/>
        <p:nvPr/>
      </p:nvGrpSpPr>
      <p:grpSpPr/>
      <p:sp>
        <p:nvSpPr>
          <p:cNvPr id="2" name="TextBox 1"/>
          <p:cNvSpPr txBox="1"/>
          <p:nvPr/>
        </p:nvSpPr>
        <p:spPr>
          <a:xfrm>
            <a:off x="457200" y="365760"/>
            <a:ext cx="11247120" cy="914400"/>
          </a:xfrm>
          <a:prstGeom prst="rect">
            <a:avLst/>
          </a:prstGeom>
          <a:noFill/>
        </p:spPr>
        <p:txBody>
          <a:bodyPr wrap="square">
            <a:spAutoFit/>
          </a:bodyPr>
          <a:lstStyle/>
          <a:p/>
          <a:p>
            <a:pPr algn="ctr">
              <a:defRPr b="1" sz="3200">
                <a:solidFill>
                  <a:srgbClr val="3050A2"/>
                </a:solidFill>
                <a:latin typeface="Inter"/>
              </a:defRPr>
            </a:pPr>
            <a:r>
              <a:t>KẾT QUẢ &amp; LIVE DEMO THỰC TẾ</a:t>
            </a:r>
          </a:p>
        </p:txBody>
      </p:sp>
      <p:sp>
        <p:nvSpPr>
          <p:cNvPr id="3" name="Rounded Rectangle 2"/>
          <p:cNvSpPr/>
          <p:nvPr/>
        </p:nvSpPr>
        <p:spPr>
          <a:xfrm>
            <a:off x="1371600" y="2286000"/>
            <a:ext cx="2743200" cy="1828800"/>
          </a:xfrm>
          <a:prstGeom prst="roundRect">
            <a:avLst>
              <a:gd name="adj" fmla="val 15000"/>
            </a:avLst>
          </a:prstGeom>
          <a:solidFill>
            <a:srgbClr val="29B19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2000" b="1">
                <a:solidFill>
                  <a:srgbClr val="FFFFFF"/>
                </a:solidFill>
                <a:latin typeface="Inter"/>
              </a:defRPr>
            </a:pPr>
            <a:r>
              <a:t>100%</a:t>
            </a:r>
            <a:br/>
            <a:r>
              <a:t>Tuân thủ An toàn</a:t>
            </a:r>
            <a:br/>
            <a:r>
              <a:t>&amp; Montessori</a:t>
            </a:r>
          </a:p>
        </p:txBody>
      </p:sp>
      <p:sp>
        <p:nvSpPr>
          <p:cNvPr id="4" name="Rounded Rectangle 3"/>
          <p:cNvSpPr/>
          <p:nvPr/>
        </p:nvSpPr>
        <p:spPr>
          <a:xfrm>
            <a:off x="4723790" y="2286000"/>
            <a:ext cx="2743200" cy="1828800"/>
          </a:xfrm>
          <a:prstGeom prst="roundRect">
            <a:avLst>
              <a:gd name="adj" fmla="val 15000"/>
            </a:avLst>
          </a:prstGeom>
          <a:solidFill>
            <a:srgbClr val="3050A2"/>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2000" b="1">
                <a:solidFill>
                  <a:srgbClr val="FFFFFF"/>
                </a:solidFill>
                <a:latin typeface="Inter"/>
              </a:defRPr>
            </a:pPr>
            <a:r>
              <a:t>&lt; 3 PHÚT</a:t>
            </a:r>
            <a:br/>
            <a:r>
              <a:t>Hoàn thành</a:t>
            </a:r>
            <a:br/>
            <a:r>
              <a:t>10 giáo án/2 tuần</a:t>
            </a:r>
          </a:p>
        </p:txBody>
      </p:sp>
      <p:sp>
        <p:nvSpPr>
          <p:cNvPr id="5" name="Rounded Rectangle 4"/>
          <p:cNvSpPr/>
          <p:nvPr/>
        </p:nvSpPr>
        <p:spPr>
          <a:xfrm>
            <a:off x="8076895" y="2286000"/>
            <a:ext cx="2743200" cy="1828800"/>
          </a:xfrm>
          <a:prstGeom prst="roundRect">
            <a:avLst>
              <a:gd name="adj" fmla="val 15000"/>
            </a:avLst>
          </a:prstGeom>
          <a:solidFill>
            <a:srgbClr val="FF9632"/>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2000" b="1">
                <a:solidFill>
                  <a:srgbClr val="FFFFFF"/>
                </a:solidFill>
                <a:latin typeface="Inter"/>
              </a:defRPr>
            </a:pPr>
            <a:r>
              <a:t>0 GIỜ</a:t>
            </a:r>
            <a:br/>
            <a:r>
              <a:t>Điều phối viên</a:t>
            </a:r>
            <a:br/>
            <a:r>
              <a:t>phải làm tay</a:t>
            </a:r>
          </a:p>
        </p:txBody>
      </p:sp>
      <p:sp>
        <p:nvSpPr>
          <p:cNvPr id="6" name="Rounded Rectangle 5"/>
          <p:cNvSpPr/>
          <p:nvPr/>
        </p:nvSpPr>
        <p:spPr>
          <a:xfrm>
            <a:off x="3200400" y="5029200"/>
            <a:ext cx="5790895" cy="914400"/>
          </a:xfrm>
          <a:prstGeom prst="roundRect">
            <a:avLst>
              <a:gd name="adj" fmla="val 15000"/>
            </a:avLst>
          </a:prstGeom>
          <a:solidFill>
            <a:srgbClr val="192027"/>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2400" b="1">
                <a:solidFill>
                  <a:srgbClr val="FFFFFF"/>
                </a:solidFill>
                <a:latin typeface="Inter"/>
              </a:defRPr>
            </a:pPr>
            <a:r>
              <a:t>BẮT ĐẦU LIVE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